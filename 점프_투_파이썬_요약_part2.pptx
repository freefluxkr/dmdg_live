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011680"/>
            <a:ext cx="9448495" cy="91440"/>
          </a:xfrm>
          <a:prstGeom prst="rect">
            <a:avLst/>
          </a:prstGeom>
          <a:solidFill>
            <a:srgbClr val="F5C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algun Gothic"/>
              </a:defRPr>
            </a:pPr>
            <a:r>
              <a:t>점프 투 파이썬 (Jump to Python)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F5C341"/>
                </a:solidFill>
                <a:latin typeface="Malgun Gothic"/>
              </a:defRPr>
            </a:pPr>
            <a:r>
              <a:t>06장 ~ 10장 핵심 요약 및 실전 예제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AABECD"/>
                </a:solidFill>
                <a:latin typeface="Malgun Gothic"/>
              </a:defRPr>
            </a:pPr>
            <a:r>
              <a:t>AI 시대의 핵심 프로그래밍 학습 요약 가이드 (Part 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C341"/>
                </a:solidFill>
                <a:latin typeface="Malgun Gothic"/>
              </a:defRPr>
            </a:pPr>
            <a:r>
              <a:t>CHAPTER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파이썬 프로그래밍, 어떻게 시작해야 할까?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15A"/>
                </a:solidFill>
                <a:latin typeface="Malgun Gothic"/>
              </a:defRPr>
            </a:pPr>
            <a:r>
              <a:t>06-1. 프로그램 요구사항 분석과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96A0"/>
                </a:solidFill>
                <a:latin typeface="Malgun Gothic"/>
              </a:defRPr>
            </a:pPr>
            <a:r>
              <a:t>Chapter 06. 파이썬 프로그래밍, 어떻게 시작해야 할까?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36576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프로그래밍을 시작하기 전, 문제에 대한 로직을 설계해야 합니다.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입력값(Input)과 출력값(Output)이 무엇인지 명확하게 정의합니다.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구구단 만들기: 입력은 '단(2~9)', 출력은 '해당 단의 계산 목록'입니다.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3과 5의 배수 합하기: 1000 미만의 자연수 중 조건에 맞는 배수만 필터링합니다.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5135" cy="47548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341"/>
                </a:solidFill>
                <a:latin typeface="Malgun Gothic"/>
              </a:defRPr>
            </a:pPr>
            <a:r>
              <a:t>📎 파이썬 실전 예제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593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FFFFFF"/>
                </a:solidFill>
                <a:latin typeface="Consolas"/>
              </a:defRPr>
            </a:pPr>
            <a:r>
              <a:t># 구구단 함수 및 3과 5의 배수 합 구하기 예제</a:t>
            </a:r>
            <a:br/>
            <a:r>
              <a:t>def gugu(n):</a:t>
            </a:r>
            <a:br/>
            <a:r>
              <a:t>    result = []</a:t>
            </a:r>
            <a:br/>
            <a:r>
              <a:t>    for i in range(1, 10):</a:t>
            </a:r>
            <a:br/>
            <a:r>
              <a:t>        result.append(n * i)</a:t>
            </a:r>
            <a:br/>
            <a:r>
              <a:t>    return result</a:t>
            </a:r>
            <a:br/>
            <a:br/>
            <a:r>
              <a:t># 3과 5의 배수 합 계산</a:t>
            </a:r>
            <a:br/>
            <a:r>
              <a:t>total = 0</a:t>
            </a:r>
            <a:br/>
            <a:r>
              <a:t>for n in range(1, 1000):</a:t>
            </a:r>
            <a:br/>
            <a:r>
              <a:t>    if n % 3 == 0 or n % 5 == 0:</a:t>
            </a:r>
            <a:br/>
            <a:r>
              <a:t>        total += n</a:t>
            </a:r>
            <a:br/>
            <a:br/>
            <a:r>
              <a:t>print('3단 결과:', gugu(3)[:3])</a:t>
            </a:r>
            <a:br/>
            <a:r>
              <a:t>print('배수 합:', total)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15A"/>
                </a:solidFill>
                <a:latin typeface="Malgun Gothic"/>
              </a:defRPr>
            </a:pPr>
            <a:r>
              <a:t>06-2. 게시판 페이징 및 메모장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96A0"/>
                </a:solidFill>
                <a:latin typeface="Malgun Gothic"/>
              </a:defRPr>
            </a:pPr>
            <a:r>
              <a:t>Chapter 06. 파이썬 프로그래밍, 어떻게 시작해야 할까?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36576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게시판 페이징(Paging): 게시물 수와 한 페이지에 보여줄 목록 수로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총 페이지 수를 계산하는 공식을 구현합니다.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공식: 총 페이지 = (총 게시물 // 한 페이지 게시물) + (1 if 나머지 else 0)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메모장 만들기: 텍스트 파일 입출력을 활용해 콘솔 기반의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간단한 파일 작성 및 조회 프로그램을 구축합니다.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5135" cy="47548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341"/>
                </a:solidFill>
                <a:latin typeface="Malgun Gothic"/>
              </a:defRPr>
            </a:pPr>
            <a:r>
              <a:t>📎 파이썬 실전 예제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593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FFFFFF"/>
                </a:solidFill>
                <a:latin typeface="Consolas"/>
              </a:defRPr>
            </a:pPr>
            <a:r>
              <a:t># 1. 페이징 계산 함수</a:t>
            </a:r>
            <a:br/>
            <a:r>
              <a:t>def get_total_page(m, n):</a:t>
            </a:r>
            <a:br/>
            <a:r>
              <a:t>    if m % n == 0:</a:t>
            </a:r>
            <a:br/>
            <a:r>
              <a:t>        return m // n</a:t>
            </a:r>
            <a:br/>
            <a:r>
              <a:t>    return m // n + 1</a:t>
            </a:r>
            <a:br/>
            <a:br/>
            <a:r>
              <a:t>print('게시물30/페이지10:', get_total_page(30, 10))</a:t>
            </a:r>
            <a:br/>
            <a:r>
              <a:t>print('게시물31/페이지10:', get_total_page(31, 10))</a:t>
            </a:r>
            <a:br/>
            <a:br/>
            <a:r>
              <a:t># 2. 간단한 메모장 추가 모드 예제</a:t>
            </a:r>
            <a:br/>
            <a:r>
              <a:t>with open('memo.txt', 'a', encoding='utf-8') as f:</a:t>
            </a:r>
            <a:br/>
            <a:r>
              <a:t>    f.write('새로운 메모를 작성합니다.\n')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15A"/>
                </a:solidFill>
                <a:latin typeface="Malgun Gothic"/>
              </a:defRPr>
            </a:pPr>
            <a:r>
              <a:t>06-3. 하위 디렉토리 검색과 os.walk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96A0"/>
                </a:solidFill>
                <a:latin typeface="Malgun Gothic"/>
              </a:defRPr>
            </a:pPr>
            <a:r>
              <a:t>Chapter 06. 파이썬 프로그래밍, 어떻게 시작해야 할까?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36576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특정 폴더의 하위 경로를 탐색하면서 특정 확장자(.py 등)의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파일들만 골라내는 프로그램을 만듭니다.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os.listdir()와 os.path.isdir()을 이용해 재귀적으로 탐색하거나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파이썬 내장 라이브러리인 os.walk()를 쓰면 매우 간편하게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하위 디렉토리 구조와 파일 목록을 한 번에 가져올 수 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5135" cy="47548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341"/>
                </a:solidFill>
                <a:latin typeface="Malgun Gothic"/>
              </a:defRPr>
            </a:pPr>
            <a:r>
              <a:t>📎 파이썬 실전 예제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593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FFFFFF"/>
                </a:solidFill>
                <a:latin typeface="Consolas"/>
              </a:defRPr>
            </a:pPr>
            <a:r>
              <a:t># os.walk를 활용한 디렉토리 파일 검색</a:t>
            </a:r>
            <a:br/>
            <a:r>
              <a:t>import os</a:t>
            </a:r>
            <a:br/>
            <a:br/>
            <a:r>
              <a:t>def search_py_files(dirname):</a:t>
            </a:r>
            <a:br/>
            <a:r>
              <a:t>    for (path, dir, files) in os.walk(dirname):</a:t>
            </a:r>
            <a:br/>
            <a:r>
              <a:t>        for filename in files:</a:t>
            </a:r>
            <a:br/>
            <a:r>
              <a:t>            ext = os.path.splitext(filename)[-1]</a:t>
            </a:r>
            <a:br/>
            <a:r>
              <a:t>            if ext == '.py':</a:t>
            </a:r>
            <a:br/>
            <a:r>
              <a:t>                # 파이썬 파일 경로 출력</a:t>
            </a:r>
            <a:br/>
            <a:r>
              <a:t>                print(os.path.join(path, filename))</a:t>
            </a:r>
            <a:br/>
            <a:br/>
            <a:r>
              <a:t># search_py_files('.') # 실행 시 현재 폴더 탐색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C341"/>
                </a:solidFill>
                <a:latin typeface="Malgun Gothic"/>
              </a:defRPr>
            </a:pPr>
            <a:r>
              <a:t>CHAPTER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파이썬 날아오르기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15A"/>
                </a:solidFill>
                <a:latin typeface="Malgun Gothic"/>
              </a:defRPr>
            </a:pPr>
            <a:r>
              <a:t>07-1. pip 패키지 매니저와 외부 패키지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96A0"/>
                </a:solidFill>
                <a:latin typeface="Malgun Gothic"/>
              </a:defRPr>
            </a:pPr>
            <a:r>
              <a:t>Chapter 07. 파이썬 날아오르기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36576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pip(Pip Installs Packages): 파이썬 공식 외부 라이브러리 관리 툴입니다.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명령어 예시: pip install [패키지명] (패키지 설치)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PyPI(Python Package Index) 저장소에서 수많은 모듈을 다운로드합니다.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설치된 패키지 확인 및 삭제: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pip list: 현재 설치되어 있는 패키지 목록 조회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pip uninstall [패키지명]: 해당 패키지 시스템에서 삭제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5135" cy="47548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341"/>
                </a:solidFill>
                <a:latin typeface="Malgun Gothic"/>
              </a:defRPr>
            </a:pPr>
            <a:r>
              <a:t>📎 파이썬 실전 예제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593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FFFFFF"/>
                </a:solidFill>
                <a:latin typeface="Consolas"/>
              </a:defRPr>
            </a:pPr>
            <a:r>
              <a:t># pip 사용 예시 (터미널 명령어)</a:t>
            </a:r>
            <a:br/>
            <a:r>
              <a:t># 1. 특정 버전의 패키지 설치</a:t>
            </a:r>
            <a:br/>
            <a:r>
              <a:t># pip install requests==2.31.0</a:t>
            </a:r>
            <a:br/>
            <a:br/>
            <a:r>
              <a:t># 2. 설치된 패키지를 텍스트 파일로 저장하여 관리</a:t>
            </a:r>
            <a:br/>
            <a:r>
              <a:t># pip freeze &gt; requirements.txt</a:t>
            </a:r>
            <a:br/>
            <a:br/>
            <a:r>
              <a:t># 3. requirements.txt에 등록된 모든 패키지 일괄 설치</a:t>
            </a:r>
            <a:br/>
            <a:r>
              <a:t># pip install -r requirements.txt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15A"/>
                </a:solidFill>
                <a:latin typeface="Malgun Gothic"/>
              </a:defRPr>
            </a:pPr>
            <a:r>
              <a:t>07-2. 실전 코딩 도장 (문제 풀이 예제)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96A0"/>
                </a:solidFill>
                <a:latin typeface="Malgun Gothic"/>
              </a:defRPr>
            </a:pPr>
            <a:r>
              <a:t>Chapter 07. 파이썬 날아오르기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36576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다양한 실전 프로그래밍 문제를 풀며 논리력을 키웁니다.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대표적인 문제 유형: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자릿수 합하기: 숫자를 입력받아 각 자릿수의 합 구하기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중복 문자 제거: 연속해서 나타나는 문자열 압축하기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- 369 게임: 3, 6, 9가 들어가는 숫자를 판단해 짝 박수 구현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5135" cy="47548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341"/>
                </a:solidFill>
                <a:latin typeface="Malgun Gothic"/>
              </a:defRPr>
            </a:pPr>
            <a:r>
              <a:t>📎 파이썬 실전 예제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593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FFFFFF"/>
                </a:solidFill>
                <a:latin typeface="Consolas"/>
              </a:defRPr>
            </a:pPr>
            <a:r>
              <a:t># 숫자의 각 자릿수 합을 구하는 간단 알고리즘</a:t>
            </a:r>
            <a:br/>
            <a:r>
              <a:t>def sum_digits(n):</a:t>
            </a:r>
            <a:br/>
            <a:r>
              <a:t>    # 숫자를 문자열로 변환하여 각각 더하기</a:t>
            </a:r>
            <a:br/>
            <a:r>
              <a:t>    return sum(int(digit) for digit in str(n))</a:t>
            </a:r>
            <a:br/>
            <a:br/>
            <a:r>
              <a:t># 문자열 압축 예제 (aaabbbcc -&gt; a3b3c2)</a:t>
            </a:r>
            <a:br/>
            <a:r>
              <a:t>print('1234의 자릿수 합:', sum_digits(1234))  #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C341"/>
                </a:solidFill>
                <a:latin typeface="Malgun Gothic"/>
              </a:defRPr>
            </a:pPr>
            <a:r>
              <a:t>CHAPTER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정규표현식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15A"/>
                </a:solidFill>
                <a:latin typeface="Malgun Gothic"/>
              </a:defRPr>
            </a:pPr>
            <a:r>
              <a:t>08-1. 정규표현식의 필요성과 메타 문자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96A0"/>
                </a:solidFill>
                <a:latin typeface="Malgun Gothic"/>
              </a:defRPr>
            </a:pPr>
            <a:r>
              <a:t>Chapter 08. 정규표현식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36576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정규표현식(Regular Expressions)은 복잡한 문자열 패턴을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검색, 추출, 변환할 때 사용하는 강력한 도구입니다.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대표적인 메타 문자(특수 의미를 갖는 문자):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. (줄바꿈 문자를 제외한 모든 문자 1개 매칭)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* (0회 이상 반복), + (1회 이상 반복), ? (0회 또는 1회 존재)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^ (문자열의 시작), $ (문자열의 끝)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[] (괄호 안의 문자들 중 하나와 매치)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5135" cy="47548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341"/>
                </a:solidFill>
                <a:latin typeface="Malgun Gothic"/>
              </a:defRPr>
            </a:pPr>
            <a:r>
              <a:t>📎 파이썬 실전 예제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593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FFFFFF"/>
                </a:solidFill>
                <a:latin typeface="Consolas"/>
              </a:defRPr>
            </a:pPr>
            <a:r>
              <a:t># 정규표현식 패턴과 메타 문자 기호 매핑</a:t>
            </a:r>
            <a:br/>
            <a:r>
              <a:t>import re</a:t>
            </a:r>
            <a:br/>
            <a:br/>
            <a:r>
              <a:t># [a-z]+ : 소문자가 1회 이상 반복되는 패턴</a:t>
            </a:r>
            <a:br/>
            <a:r>
              <a:t>p = re.compile('[a-z]+')</a:t>
            </a:r>
            <a:br/>
            <a:br/>
            <a:r>
              <a:t>m1 = p.match('python')</a:t>
            </a:r>
            <a:br/>
            <a:r>
              <a:t>print(m1.group() if m1 else '매칭 실패')  # 'python'</a:t>
            </a:r>
            <a:br/>
            <a:br/>
            <a:r>
              <a:t>m2 = p.match('3 python')</a:t>
            </a:r>
            <a:br/>
            <a:r>
              <a:t>print(m2.group() if m2 else '매칭 실패')  # '매칭 실패' (숫자 시작)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15A"/>
                </a:solidFill>
                <a:latin typeface="Malgun Gothic"/>
              </a:defRPr>
            </a:pPr>
            <a:r>
              <a:t>08-2. re 모듈과 정규식 검색 메서드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96A0"/>
                </a:solidFill>
                <a:latin typeface="Malgun Gothic"/>
              </a:defRPr>
            </a:pPr>
            <a:r>
              <a:t>Chapter 08. 정규표현식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36576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match(): 문자열의 처음부터 정규식과 매치되는지 조사합니다.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search(): 문자열 전체를 검색하여 정규식과 매치되는지 조사합니다.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findall(): 매치되는 모든 문자열을 리스트 형태로 반환합니다.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finditer(): 매치되는 모든 결과를 반복 가능한 객체(Iterator)로 반환합니다.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메서드 그룹 활용: group(), start(), end(), span()을 통해 위치 상세 파악 가능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5135" cy="47548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341"/>
                </a:solidFill>
                <a:latin typeface="Malgun Gothic"/>
              </a:defRPr>
            </a:pPr>
            <a:r>
              <a:t>📎 파이썬 실전 예제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593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FFFFFF"/>
                </a:solidFill>
                <a:latin typeface="Consolas"/>
              </a:defRPr>
            </a:pPr>
            <a:r>
              <a:t># match() vs search() 및 findall() 예제</a:t>
            </a:r>
            <a:br/>
            <a:r>
              <a:t>import re</a:t>
            </a:r>
            <a:br/>
            <a:r>
              <a:t>p = re.compile('[a-z]+')</a:t>
            </a:r>
            <a:br/>
            <a:br/>
            <a:r>
              <a:t># search는 처음이 부합하지 않아도 전체에서 매칭부를 찾음</a:t>
            </a:r>
            <a:br/>
            <a:r>
              <a:t>m = p.search('3 python')</a:t>
            </a:r>
            <a:br/>
            <a:r>
              <a:t>print('search 결과:', m.group())  # 'python'</a:t>
            </a:r>
            <a:br/>
            <a:br/>
            <a:r>
              <a:t># 모든 알파벳 단어 추출</a:t>
            </a:r>
            <a:br/>
            <a:r>
              <a:t>words = p.findall('life is too short')</a:t>
            </a:r>
            <a:br/>
            <a:r>
              <a:t>print('findall 결과:', words)  # ['life', 'is', 'too', 'short']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C341"/>
                </a:solidFill>
                <a:latin typeface="Malgun Gothic"/>
              </a:defRPr>
            </a:pPr>
            <a:r>
              <a:t>CHAPTER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부록 - 가상 환경과 바이트코드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15A"/>
                </a:solidFill>
                <a:latin typeface="Malgun Gothic"/>
              </a:defRPr>
            </a:pPr>
            <a:r>
              <a:t>09-1. 파이썬 가상 환경(venv)과 의존성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96A0"/>
                </a:solidFill>
                <a:latin typeface="Malgun Gothic"/>
              </a:defRPr>
            </a:pPr>
            <a:r>
              <a:t>Chapter 09. 부록 - 가상 환경과 바이트코드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36576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가상 환경(Virtual Environment)은 프로젝트별로 독립적인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파이썬 실행 환경과 라이브러리 버전을 분리 관리하는 기술입니다.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서로 다른 버전을 요구하는 라이브러리 충돌을 원천적으로 예방합니다.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가상 환경 구축 명령어 및 활성화: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python -m venv [환경이름] (가상 환경 폴더 생성)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Window 활성화: [환경이름]\Scripts\activate.bat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Mac/Linux 활성화: source [환경이름]/bin/activate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5135" cy="47548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341"/>
                </a:solidFill>
                <a:latin typeface="Malgun Gothic"/>
              </a:defRPr>
            </a:pPr>
            <a:r>
              <a:t>📎 파이썬 실전 예제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593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FFFFFF"/>
                </a:solidFill>
                <a:latin typeface="Consolas"/>
              </a:defRPr>
            </a:pPr>
            <a:r>
              <a:t># 가상 환경 생성 및 진입 (터미널 명령어)</a:t>
            </a:r>
            <a:br/>
            <a:r>
              <a:t># 1. 'myenv'라는 이름의 가상 환경 생성</a:t>
            </a:r>
            <a:br/>
            <a:r>
              <a:t># python -m venv myenv</a:t>
            </a:r>
            <a:br/>
            <a:br/>
            <a:r>
              <a:t># 2. 윈도우 파워쉘에서 가상 환경 활성화</a:t>
            </a:r>
            <a:br/>
            <a:r>
              <a:t># .\myenv\Scripts\Activate.ps1</a:t>
            </a:r>
            <a:br/>
            <a:br/>
            <a:r>
              <a:t># 3. 활성화 상태에서 라이브러리 설치</a:t>
            </a:r>
            <a:br/>
            <a:r>
              <a:t># (myenv) pip install requests</a:t>
            </a:r>
            <a:br/>
            <a:br/>
            <a:r>
              <a:t># 4. 가상 환경 비활성화</a:t>
            </a:r>
            <a:br/>
            <a:r>
              <a:t># deactivate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C341"/>
                </a:solidFill>
                <a:latin typeface="Malgun Gothic"/>
              </a:defRPr>
            </a:pPr>
            <a:r>
              <a:t>CHAPTER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Malgun Gothic"/>
              </a:defRPr>
            </a:pPr>
            <a:r>
              <a:t>정답 및 풀이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15A"/>
                </a:solidFill>
                <a:latin typeface="Malgun Gothic"/>
              </a:defRPr>
            </a:pPr>
            <a:r>
              <a:t>10-1. 되새김 문제 풀이와 학습 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C96A0"/>
                </a:solidFill>
                <a:latin typeface="Malgun Gothic"/>
              </a:defRPr>
            </a:pPr>
            <a:r>
              <a:t>Chapter 10. 정답 및 풀이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728655" cy="36576"/>
          </a:xfrm>
          <a:prstGeom prst="rect">
            <a:avLst/>
          </a:prstGeom>
          <a:solidFill>
            <a:srgbClr val="1E4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각 장의 끝에 수록된 되새김 문제를 스스로 풀어보며 복습합니다.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정답 풀이 코드를 통해 자신의 로직과 비교하고 리팩토링합니다.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예제 코드에 제시된 오류 상황이나 경계 조건(Edge cases)을 점검합니다.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- 예: 빈 리스트 입력, 0으로 나누기, 파일 미존재 예외 처리 등</a:t>
            </a:r>
          </a:p>
          <a:p>
            <a:pPr>
              <a:spcAft>
                <a:spcPts val="1400"/>
              </a:spcAft>
              <a:defRPr sz="1400">
                <a:solidFill>
                  <a:srgbClr val="2C3E50"/>
                </a:solidFill>
                <a:latin typeface="Malgun Gothic"/>
              </a:defRPr>
            </a:pPr>
            <a:r>
              <a:t>학습 마무리: 파이썬의 기본기를 바탕으로 대형 프레임워크나</a:t>
            </a:r>
          </a:p>
          <a:p>
            <a:pPr lvl="1">
              <a:spcAft>
                <a:spcPts val="1400"/>
              </a:spcAft>
              <a:defRPr sz="1300">
                <a:solidFill>
                  <a:srgbClr val="505F6E"/>
                </a:solidFill>
                <a:latin typeface="Malgun Gothic"/>
              </a:defRPr>
            </a:pPr>
            <a:r>
              <a:t>  데이터 분석 라이브러리로 나아갈 수 있는 단단한 발판이 마련되었습니다.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371600"/>
            <a:ext cx="5425135" cy="475488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C341"/>
                </a:solidFill>
                <a:latin typeface="Malgun Gothic"/>
              </a:defRPr>
            </a:pPr>
            <a:r>
              <a:t>📎 파이썬 실전 예제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20240"/>
            <a:ext cx="505937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150">
                <a:solidFill>
                  <a:srgbClr val="FFFFFF"/>
                </a:solidFill>
                <a:latin typeface="Consolas"/>
              </a:defRPr>
            </a:pPr>
            <a:r>
              <a:t># 대표적인 문제 유형: 문자열 역순 출력 및 리팩토링 예시</a:t>
            </a:r>
            <a:br/>
            <a:r>
              <a:t>def reverse_string(s):</a:t>
            </a:r>
            <a:br/>
            <a:r>
              <a:t>    # 가장 간단한 파이썬 다운(Pythonic) 방식</a:t>
            </a:r>
            <a:br/>
            <a:r>
              <a:t>    return s[::-1]</a:t>
            </a:r>
            <a:br/>
            <a:br/>
            <a:r>
              <a:t># 리스트 역순 정렬 예제</a:t>
            </a:r>
            <a:br/>
            <a:r>
              <a:t>a = [1, 3, 5, 4, 2]</a:t>
            </a:r>
            <a:br/>
            <a:r>
              <a:t>a.sort(reverse=True)</a:t>
            </a:r>
            <a:br/>
            <a:r>
              <a:t>print('정렬결과:', a)  # [5, 4, 3, 2, 1]</a:t>
            </a:r>
            <a:br/>
            <a:r>
              <a:t>print('역순문자:', reverse_string('hello'))  # 'olleh'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